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223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1508760"/>
            <a:ext cx="10698480" cy="1463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RTOS-Based Environmental</a:t>
            </a:r>
            <a:br/>
            <a:r>
              <a:t>Monitoring and Control System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04672" y="3200400"/>
            <a:ext cx="10058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B9D3F4"/>
                </a:solidFill>
              </a:defRPr>
            </a:pPr>
            <a:r>
              <a:t>C  |  FreeRTOS  |  STM32  |  UART  |  I2C  |  GPIO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04672" y="5212080"/>
            <a:ext cx="4572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FFFFFF"/>
                </a:solidFill>
              </a:defRPr>
            </a:pPr>
            <a:r>
              <a:t>Gaurav Singh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22238"/>
                </a:solidFill>
              </a:defRPr>
            </a:pPr>
            <a:r>
              <a:t>Project 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508760"/>
            <a:ext cx="106070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202938"/>
                </a:solidFill>
              </a:defRPr>
            </a:pPr>
            <a:r>
              <a:t>• Real-time embedded system for environmental sensor monitoring and control.</a:t>
            </a:r>
          </a:p>
          <a:p>
            <a:pPr>
              <a:spcAft>
                <a:spcPts val="1200"/>
              </a:spcAft>
              <a:defRPr sz="2000">
                <a:solidFill>
                  <a:srgbClr val="202938"/>
                </a:solidFill>
              </a:defRPr>
            </a:pPr>
            <a:r>
              <a:t>• FreeRTOS divides the application into independent tasks instead of one large polling loop.</a:t>
            </a:r>
          </a:p>
          <a:p>
            <a:pPr>
              <a:spcAft>
                <a:spcPts val="1200"/>
              </a:spcAft>
              <a:defRPr sz="2000">
                <a:solidFill>
                  <a:srgbClr val="202938"/>
                </a:solidFill>
              </a:defRPr>
            </a:pPr>
            <a:r>
              <a:t>• Core functions: sensor acquisition, data processing, UART communication, and fault monitoring.</a:t>
            </a:r>
          </a:p>
          <a:p>
            <a:pPr>
              <a:spcAft>
                <a:spcPts val="1200"/>
              </a:spcAft>
              <a:defRPr sz="2000">
                <a:solidFill>
                  <a:srgbClr val="202938"/>
                </a:solidFill>
              </a:defRPr>
            </a:pPr>
            <a:r>
              <a:t>• Designed for modularity, reliable inter-task communication, responsiveness, and maintainability.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6537960"/>
            <a:ext cx="10927080" cy="13716"/>
          </a:xfrm>
          <a:prstGeom prst="rect">
            <a:avLst/>
          </a:prstGeom>
          <a:solidFill>
            <a:srgbClr val="DCE1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881360" y="6565392"/>
            <a:ext cx="6400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5F6978"/>
                </a:solidFill>
              </a:defRPr>
            </a:pPr>
            <a: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22238"/>
                </a:solidFill>
              </a:defRPr>
            </a:pPr>
            <a:r>
              <a:t>Project Objectives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508760"/>
            <a:ext cx="106070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202938"/>
                </a:solidFill>
              </a:defRPr>
            </a:pPr>
            <a:r>
              <a:t>• Acquire environmental sensor data periodically through STM32 peripheral interfaces.</a:t>
            </a:r>
          </a:p>
          <a:p>
            <a:pPr>
              <a:spcAft>
                <a:spcPts val="1200"/>
              </a:spcAft>
              <a:defRPr sz="1800">
                <a:solidFill>
                  <a:srgbClr val="202938"/>
                </a:solidFill>
              </a:defRPr>
            </a:pPr>
            <a:r>
              <a:t>• Use FreeRTOS tasks to separate sensing, processing, communication, and supervision.</a:t>
            </a:r>
          </a:p>
          <a:p>
            <a:pPr>
              <a:spcAft>
                <a:spcPts val="1200"/>
              </a:spcAft>
              <a:defRPr sz="1800">
                <a:solidFill>
                  <a:srgbClr val="202938"/>
                </a:solidFill>
              </a:defRPr>
            </a:pPr>
            <a:r>
              <a:t>• Exchange data safely between tasks using queues and protect shared resources using mutexes.</a:t>
            </a:r>
          </a:p>
          <a:p>
            <a:pPr>
              <a:spcAft>
                <a:spcPts val="1200"/>
              </a:spcAft>
              <a:defRPr sz="1800">
                <a:solidFill>
                  <a:srgbClr val="202938"/>
                </a:solidFill>
              </a:defRPr>
            </a:pPr>
            <a:r>
              <a:t>• Use UART for runtime monitoring and debugging.</a:t>
            </a:r>
          </a:p>
          <a:p>
            <a:pPr>
              <a:spcAft>
                <a:spcPts val="1200"/>
              </a:spcAft>
              <a:defRPr sz="1800">
                <a:solidFill>
                  <a:srgbClr val="202938"/>
                </a:solidFill>
              </a:defRPr>
            </a:pPr>
            <a:r>
              <a:t>• Handle time-sensitive events through interrupt-driven processing.</a:t>
            </a:r>
          </a:p>
          <a:p>
            <a:pPr>
              <a:spcAft>
                <a:spcPts val="1200"/>
              </a:spcAft>
              <a:defRPr sz="1800">
                <a:solidFill>
                  <a:srgbClr val="202938"/>
                </a:solidFill>
              </a:defRPr>
            </a:pPr>
            <a:r>
              <a:t>• Optimize task priorities, memory usage, and response time.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6537960"/>
            <a:ext cx="10927080" cy="13716"/>
          </a:xfrm>
          <a:prstGeom prst="rect">
            <a:avLst/>
          </a:prstGeom>
          <a:solidFill>
            <a:srgbClr val="DCE1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881360" y="6565392"/>
            <a:ext cx="6400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5F6978"/>
                </a:solidFill>
              </a:defRPr>
            </a:pPr>
            <a: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22238"/>
                </a:solidFill>
              </a:defRPr>
            </a:pPr>
            <a:r>
              <a:t>Technology Stack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600200"/>
            <a:ext cx="3383280" cy="1417320"/>
          </a:xfrm>
          <a:prstGeom prst="roundRect">
            <a:avLst/>
          </a:prstGeom>
          <a:solidFill>
            <a:srgbClr val="F1F5F9"/>
          </a:solidFill>
          <a:ln>
            <a:solidFill>
              <a:srgbClr val="D2DA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783080"/>
            <a:ext cx="301752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100" b="1">
                <a:solidFill>
                  <a:srgbClr val="2B66B0"/>
                </a:solidFill>
              </a:defRPr>
            </a:pPr>
            <a:r>
              <a:t>C</a:t>
            </a:r>
          </a:p>
          <a:p>
            <a:pPr>
              <a:defRPr sz="1300">
                <a:solidFill>
                  <a:srgbClr val="202938"/>
                </a:solidFill>
              </a:defRPr>
            </a:pPr>
            <a:r>
              <a:t>Embedded application logic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26280" y="1600200"/>
            <a:ext cx="3383280" cy="1417320"/>
          </a:xfrm>
          <a:prstGeom prst="roundRect">
            <a:avLst/>
          </a:prstGeom>
          <a:solidFill>
            <a:srgbClr val="F1F5F9"/>
          </a:solidFill>
          <a:ln>
            <a:solidFill>
              <a:srgbClr val="D2DA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709160" y="1783080"/>
            <a:ext cx="301752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100" b="1">
                <a:solidFill>
                  <a:srgbClr val="2B66B0"/>
                </a:solidFill>
              </a:defRPr>
            </a:pPr>
            <a:r>
              <a:t>FreeRTOS</a:t>
            </a:r>
          </a:p>
          <a:p>
            <a:pPr>
              <a:defRPr sz="1300">
                <a:solidFill>
                  <a:srgbClr val="202938"/>
                </a:solidFill>
              </a:defRPr>
            </a:pPr>
            <a:r>
              <a:t>Scheduling, queues, mutexes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321040" y="1600200"/>
            <a:ext cx="3383280" cy="1417320"/>
          </a:xfrm>
          <a:prstGeom prst="roundRect">
            <a:avLst/>
          </a:prstGeom>
          <a:solidFill>
            <a:srgbClr val="F1F5F9"/>
          </a:solidFill>
          <a:ln>
            <a:solidFill>
              <a:srgbClr val="D2DA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503920" y="1783080"/>
            <a:ext cx="301752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100" b="1">
                <a:solidFill>
                  <a:srgbClr val="2B66B0"/>
                </a:solidFill>
              </a:defRPr>
            </a:pPr>
            <a:r>
              <a:t>STM32</a:t>
            </a:r>
          </a:p>
          <a:p>
            <a:pPr>
              <a:defRPr sz="1300">
                <a:solidFill>
                  <a:srgbClr val="202938"/>
                </a:solidFill>
              </a:defRPr>
            </a:pPr>
            <a:r>
              <a:t>Microcontroller platform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3657600"/>
            <a:ext cx="3383280" cy="1417320"/>
          </a:xfrm>
          <a:prstGeom prst="roundRect">
            <a:avLst/>
          </a:prstGeom>
          <a:solidFill>
            <a:srgbClr val="F1F5F9"/>
          </a:solidFill>
          <a:ln>
            <a:solidFill>
              <a:srgbClr val="D2DA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840480"/>
            <a:ext cx="301752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100" b="1">
                <a:solidFill>
                  <a:srgbClr val="2B66B0"/>
                </a:solidFill>
              </a:defRPr>
            </a:pPr>
            <a:r>
              <a:t>I2C</a:t>
            </a:r>
          </a:p>
          <a:p>
            <a:pPr>
              <a:defRPr sz="1300">
                <a:solidFill>
                  <a:srgbClr val="202938"/>
                </a:solidFill>
              </a:defRPr>
            </a:pPr>
            <a:r>
              <a:t>Sensor communication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26280" y="3657600"/>
            <a:ext cx="3383280" cy="1417320"/>
          </a:xfrm>
          <a:prstGeom prst="roundRect">
            <a:avLst/>
          </a:prstGeom>
          <a:solidFill>
            <a:srgbClr val="F1F5F9"/>
          </a:solidFill>
          <a:ln>
            <a:solidFill>
              <a:srgbClr val="D2DA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709160" y="3840480"/>
            <a:ext cx="301752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100" b="1">
                <a:solidFill>
                  <a:srgbClr val="2B66B0"/>
                </a:solidFill>
              </a:defRPr>
            </a:pPr>
            <a:r>
              <a:t>GPIO</a:t>
            </a:r>
          </a:p>
          <a:p>
            <a:pPr>
              <a:defRPr sz="1300">
                <a:solidFill>
                  <a:srgbClr val="202938"/>
                </a:solidFill>
              </a:defRPr>
            </a:pPr>
            <a:r>
              <a:t>Peripheral interface/control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321040" y="3657600"/>
            <a:ext cx="3383280" cy="1417320"/>
          </a:xfrm>
          <a:prstGeom prst="roundRect">
            <a:avLst/>
          </a:prstGeom>
          <a:solidFill>
            <a:srgbClr val="F1F5F9"/>
          </a:solidFill>
          <a:ln>
            <a:solidFill>
              <a:srgbClr val="D2DA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503920" y="3840480"/>
            <a:ext cx="301752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100" b="1">
                <a:solidFill>
                  <a:srgbClr val="2B66B0"/>
                </a:solidFill>
              </a:defRPr>
            </a:pPr>
            <a:r>
              <a:t>UART</a:t>
            </a:r>
          </a:p>
          <a:p>
            <a:pPr>
              <a:defRPr sz="1300">
                <a:solidFill>
                  <a:srgbClr val="202938"/>
                </a:solidFill>
              </a:defRPr>
            </a:pPr>
            <a:r>
              <a:t>Serial output and debugging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080" y="6537960"/>
            <a:ext cx="10927080" cy="13716"/>
          </a:xfrm>
          <a:prstGeom prst="rect">
            <a:avLst/>
          </a:prstGeom>
          <a:solidFill>
            <a:srgbClr val="DCE1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881360" y="6565392"/>
            <a:ext cx="6400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5F6978"/>
                </a:solidFill>
              </a:defRPr>
            </a:pPr>
            <a: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22238"/>
                </a:solidFill>
              </a:defRPr>
            </a:pPr>
            <a:r>
              <a:t>System Architecture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0" y="1325880"/>
            <a:ext cx="2926080" cy="685800"/>
          </a:xfrm>
          <a:prstGeom prst="roundRect">
            <a:avLst/>
          </a:prstGeom>
          <a:solidFill>
            <a:srgbClr val="F1F5F9"/>
          </a:solidFill>
          <a:ln>
            <a:solidFill>
              <a:srgbClr val="2B66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645152" y="1399032"/>
            <a:ext cx="2779776" cy="5394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500" b="1">
                <a:solidFill>
                  <a:srgbClr val="202938"/>
                </a:solidFill>
              </a:defRPr>
            </a:pPr>
            <a:r>
              <a:t>Environmental Sensors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0" y="2423160"/>
            <a:ext cx="2926080" cy="731520"/>
          </a:xfrm>
          <a:prstGeom prst="roundRect">
            <a:avLst/>
          </a:prstGeom>
          <a:solidFill>
            <a:srgbClr val="F1F5F9"/>
          </a:solidFill>
          <a:ln>
            <a:solidFill>
              <a:srgbClr val="2B66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645152" y="2496312"/>
            <a:ext cx="2779776" cy="58521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500" b="1">
                <a:solidFill>
                  <a:srgbClr val="202938"/>
                </a:solidFill>
              </a:defRPr>
            </a:pPr>
            <a:r>
              <a:t>Sensor Acquisition Task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0" y="3520440"/>
            <a:ext cx="2926080" cy="731520"/>
          </a:xfrm>
          <a:prstGeom prst="roundRect">
            <a:avLst/>
          </a:prstGeom>
          <a:solidFill>
            <a:srgbClr val="F1F5F9"/>
          </a:solidFill>
          <a:ln>
            <a:solidFill>
              <a:srgbClr val="2B66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645152" y="3593592"/>
            <a:ext cx="2779776" cy="58521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500" b="1">
                <a:solidFill>
                  <a:srgbClr val="202938"/>
                </a:solidFill>
              </a:defRPr>
            </a:pPr>
            <a:r>
              <a:t>Data Processing Task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371600" y="4754880"/>
            <a:ext cx="2926080" cy="731520"/>
          </a:xfrm>
          <a:prstGeom prst="roundRect">
            <a:avLst/>
          </a:prstGeom>
          <a:solidFill>
            <a:srgbClr val="F1F5F9"/>
          </a:solidFill>
          <a:ln>
            <a:solidFill>
              <a:srgbClr val="2B66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444752" y="4828032"/>
            <a:ext cx="2779776" cy="58521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500" b="1">
                <a:solidFill>
                  <a:srgbClr val="202938"/>
                </a:solidFill>
              </a:defRPr>
            </a:pPr>
            <a:r>
              <a:t>UART Communication Task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955279" y="4754880"/>
            <a:ext cx="2926080" cy="731520"/>
          </a:xfrm>
          <a:prstGeom prst="roundRect">
            <a:avLst/>
          </a:prstGeom>
          <a:solidFill>
            <a:srgbClr val="F1F5F9"/>
          </a:solidFill>
          <a:ln>
            <a:solidFill>
              <a:srgbClr val="2B66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28431" y="4828032"/>
            <a:ext cx="2779776" cy="58521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500" b="1">
                <a:solidFill>
                  <a:srgbClr val="202938"/>
                </a:solidFill>
              </a:defRPr>
            </a:pPr>
            <a:r>
              <a:t>Fault Monitoring Task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6035040" y="2011680"/>
            <a:ext cx="0" cy="411480"/>
          </a:xfrm>
          <a:prstGeom prst="line">
            <a:avLst/>
          </a:prstGeom>
          <a:ln w="25400">
            <a:solidFill>
              <a:srgbClr val="2B66B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6035040" y="3154680"/>
            <a:ext cx="0" cy="365760"/>
          </a:xfrm>
          <a:prstGeom prst="line">
            <a:avLst/>
          </a:prstGeom>
          <a:ln w="25400">
            <a:solidFill>
              <a:srgbClr val="2B66B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 flipH="1">
            <a:off x="2834640" y="4251960"/>
            <a:ext cx="2194560" cy="502920"/>
          </a:xfrm>
          <a:prstGeom prst="line">
            <a:avLst/>
          </a:prstGeom>
          <a:ln w="25400">
            <a:solidFill>
              <a:srgbClr val="2B66B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7040880" y="4251960"/>
            <a:ext cx="2377440" cy="502920"/>
          </a:xfrm>
          <a:prstGeom prst="line">
            <a:avLst/>
          </a:prstGeom>
          <a:ln w="25400">
            <a:solidFill>
              <a:srgbClr val="2B66B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7543800" y="1828800"/>
            <a:ext cx="2286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5F6978"/>
                </a:solidFill>
              </a:defRPr>
            </a:pPr>
            <a:r>
              <a:t>I2C / GPIO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246120" y="425196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F6978"/>
                </a:solidFill>
              </a:defRPr>
            </a:pPr>
            <a:r>
              <a:t>Processed data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40080" y="6537960"/>
            <a:ext cx="10927080" cy="13716"/>
          </a:xfrm>
          <a:prstGeom prst="rect">
            <a:avLst/>
          </a:prstGeom>
          <a:solidFill>
            <a:srgbClr val="DCE1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881360" y="6565392"/>
            <a:ext cx="6400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5F6978"/>
                </a:solidFill>
              </a:defRPr>
            </a:pPr>
            <a: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22238"/>
                </a:solidFill>
              </a:defRPr>
            </a:pPr>
            <a:r>
              <a:t>FreeRTOS Task Design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508760"/>
            <a:ext cx="106070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202938"/>
                </a:solidFill>
              </a:defRPr>
            </a:pPr>
            <a:r>
              <a:t>• Sensor Acquisition Task — reads environmental sensors and places measurements into a queue.</a:t>
            </a:r>
          </a:p>
          <a:p>
            <a:pPr>
              <a:spcAft>
                <a:spcPts val="1200"/>
              </a:spcAft>
              <a:defRPr sz="1800">
                <a:solidFill>
                  <a:srgbClr val="202938"/>
                </a:solidFill>
              </a:defRPr>
            </a:pPr>
            <a:r>
              <a:t>• Data Processing Task — receives measurements and performs application-level processing.</a:t>
            </a:r>
          </a:p>
          <a:p>
            <a:pPr>
              <a:spcAft>
                <a:spcPts val="1200"/>
              </a:spcAft>
              <a:defRPr sz="1800">
                <a:solidFill>
                  <a:srgbClr val="202938"/>
                </a:solidFill>
              </a:defRPr>
            </a:pPr>
            <a:r>
              <a:t>• UART Communication Task — transmits measurements and diagnostic information to a serial terminal.</a:t>
            </a:r>
          </a:p>
          <a:p>
            <a:pPr>
              <a:spcAft>
                <a:spcPts val="1200"/>
              </a:spcAft>
              <a:defRPr sz="1800">
                <a:solidFill>
                  <a:srgbClr val="202938"/>
                </a:solidFill>
              </a:defRPr>
            </a:pPr>
            <a:r>
              <a:t>• Fault Monitoring Task — supervises abnormal system or sensor conditions.</a:t>
            </a:r>
          </a:p>
          <a:p>
            <a:pPr>
              <a:spcAft>
                <a:spcPts val="1200"/>
              </a:spcAft>
              <a:defRPr sz="1800">
                <a:solidFill>
                  <a:srgbClr val="202938"/>
                </a:solidFill>
              </a:defRPr>
            </a:pPr>
            <a:r>
              <a:t>• Task separation prevents slower communication or processing from directly blocking sensor acquisition.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6537960"/>
            <a:ext cx="10927080" cy="13716"/>
          </a:xfrm>
          <a:prstGeom prst="rect">
            <a:avLst/>
          </a:prstGeom>
          <a:solidFill>
            <a:srgbClr val="DCE1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881360" y="6565392"/>
            <a:ext cx="6400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5F6978"/>
                </a:solidFill>
              </a:defRPr>
            </a:pPr>
            <a: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22238"/>
                </a:solidFill>
              </a:defRPr>
            </a:pPr>
            <a:r>
              <a:t>Inter-Task Communication &amp; Synchronization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508760"/>
            <a:ext cx="106070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900">
                <a:solidFill>
                  <a:srgbClr val="202938"/>
                </a:solidFill>
              </a:defRPr>
            </a:pPr>
            <a:r>
              <a:t>• FreeRTOS queues implement producer-consumer communication between acquisition and processing tasks.</a:t>
            </a:r>
          </a:p>
          <a:p>
            <a:pPr>
              <a:spcAft>
                <a:spcPts val="1200"/>
              </a:spcAft>
              <a:defRPr sz="1900">
                <a:solidFill>
                  <a:srgbClr val="202938"/>
                </a:solidFill>
              </a:defRPr>
            </a:pPr>
            <a:r>
              <a:t>• Queues buffer data and reduce direct dependency between tasks executing at different times.</a:t>
            </a:r>
          </a:p>
          <a:p>
            <a:pPr>
              <a:spcAft>
                <a:spcPts val="1200"/>
              </a:spcAft>
              <a:defRPr sz="1900">
                <a:solidFill>
                  <a:srgbClr val="202938"/>
                </a:solidFill>
              </a:defRPr>
            </a:pPr>
            <a:r>
              <a:t>• Mutexes protect shared resources when multiple tasks may access the same peripheral or shared state.</a:t>
            </a:r>
          </a:p>
          <a:p>
            <a:pPr>
              <a:spcAft>
                <a:spcPts val="1200"/>
              </a:spcAft>
              <a:defRPr sz="1900">
                <a:solidFill>
                  <a:srgbClr val="202938"/>
                </a:solidFill>
              </a:defRPr>
            </a:pPr>
            <a:r>
              <a:t>• Synchronization reduces race conditions and supports predictable real-time behavior.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6537960"/>
            <a:ext cx="10927080" cy="13716"/>
          </a:xfrm>
          <a:prstGeom prst="rect">
            <a:avLst/>
          </a:prstGeom>
          <a:solidFill>
            <a:srgbClr val="DCE1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881360" y="6565392"/>
            <a:ext cx="6400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5F6978"/>
                </a:solidFill>
              </a:defRPr>
            </a:pPr>
            <a: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22238"/>
                </a:solidFill>
              </a:defRPr>
            </a:pPr>
            <a:r>
              <a:t>Interrupt Handling &amp; UART Debugging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508760"/>
            <a:ext cx="106070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900">
                <a:solidFill>
                  <a:srgbClr val="202938"/>
                </a:solidFill>
              </a:defRPr>
            </a:pPr>
            <a:r>
              <a:t>• Interrupt-driven event handling enables fast response to asynchronous hardware events.</a:t>
            </a:r>
          </a:p>
          <a:p>
            <a:pPr>
              <a:spcAft>
                <a:spcPts val="1200"/>
              </a:spcAft>
              <a:defRPr sz="1900">
                <a:solidFill>
                  <a:srgbClr val="202938"/>
                </a:solidFill>
              </a:defRPr>
            </a:pPr>
            <a:r>
              <a:t>• Interrupt Service Routines are kept short; heavier processing is deferred to normal FreeRTOS tasks.</a:t>
            </a:r>
          </a:p>
          <a:p>
            <a:pPr>
              <a:spcAft>
                <a:spcPts val="1200"/>
              </a:spcAft>
              <a:defRPr sz="1900">
                <a:solidFill>
                  <a:srgbClr val="202938"/>
                </a:solidFill>
              </a:defRPr>
            </a:pPr>
            <a:r>
              <a:t>• UART logs provide visibility into task execution, sensor acquisition, queue activity, and fault events.</a:t>
            </a:r>
          </a:p>
          <a:p>
            <a:pPr>
              <a:spcAft>
                <a:spcPts val="1200"/>
              </a:spcAft>
              <a:defRPr sz="1900">
                <a:solidFill>
                  <a:srgbClr val="202938"/>
                </a:solidFill>
              </a:defRPr>
            </a:pPr>
            <a:r>
              <a:t>• Runtime logs support troubleshooting and root-cause analysis during development.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6537960"/>
            <a:ext cx="10927080" cy="13716"/>
          </a:xfrm>
          <a:prstGeom prst="rect">
            <a:avLst/>
          </a:prstGeom>
          <a:solidFill>
            <a:srgbClr val="DCE1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881360" y="6565392"/>
            <a:ext cx="6400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5F6978"/>
                </a:solidFill>
              </a:defRPr>
            </a:pPr>
            <a: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22238"/>
                </a:solidFill>
              </a:defRPr>
            </a:pPr>
            <a:r>
              <a:t>System Execution Flow</a:t>
            </a:r>
          </a:p>
        </p:txBody>
      </p:sp>
      <p:sp>
        <p:nvSpPr>
          <p:cNvPr id="3" name="Oval 2"/>
          <p:cNvSpPr/>
          <p:nvPr/>
        </p:nvSpPr>
        <p:spPr>
          <a:xfrm>
            <a:off x="1005840" y="1280160"/>
            <a:ext cx="411480" cy="411480"/>
          </a:xfrm>
          <a:prstGeom prst="ellipse">
            <a:avLst/>
          </a:prstGeom>
          <a:solidFill>
            <a:srgbClr val="2B66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15568" y="1344168"/>
            <a:ext cx="1828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45920" y="1261872"/>
            <a:ext cx="89611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>
                <a:solidFill>
                  <a:srgbClr val="202938"/>
                </a:solidFill>
              </a:defRPr>
            </a:pPr>
            <a:r>
              <a:t>Initialize STM32 peripherals</a:t>
            </a:r>
          </a:p>
        </p:txBody>
      </p:sp>
      <p:sp>
        <p:nvSpPr>
          <p:cNvPr id="6" name="Oval 5"/>
          <p:cNvSpPr/>
          <p:nvPr/>
        </p:nvSpPr>
        <p:spPr>
          <a:xfrm>
            <a:off x="1005840" y="1892807"/>
            <a:ext cx="411480" cy="411480"/>
          </a:xfrm>
          <a:prstGeom prst="ellipse">
            <a:avLst/>
          </a:prstGeom>
          <a:solidFill>
            <a:srgbClr val="2B66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15568" y="1956815"/>
            <a:ext cx="1828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45920" y="1874519"/>
            <a:ext cx="89611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>
                <a:solidFill>
                  <a:srgbClr val="202938"/>
                </a:solidFill>
              </a:defRPr>
            </a:pPr>
            <a:r>
              <a:t>Create queues and mutexes</a:t>
            </a:r>
          </a:p>
        </p:txBody>
      </p:sp>
      <p:sp>
        <p:nvSpPr>
          <p:cNvPr id="9" name="Oval 8"/>
          <p:cNvSpPr/>
          <p:nvPr/>
        </p:nvSpPr>
        <p:spPr>
          <a:xfrm>
            <a:off x="1005840" y="2505456"/>
            <a:ext cx="411480" cy="411480"/>
          </a:xfrm>
          <a:prstGeom prst="ellipse">
            <a:avLst/>
          </a:prstGeom>
          <a:solidFill>
            <a:srgbClr val="2B66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15568" y="2569464"/>
            <a:ext cx="1828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45920" y="2487168"/>
            <a:ext cx="89611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>
                <a:solidFill>
                  <a:srgbClr val="202938"/>
                </a:solidFill>
              </a:defRPr>
            </a:pPr>
            <a:r>
              <a:t>Create FreeRTOS tasks</a:t>
            </a:r>
          </a:p>
        </p:txBody>
      </p:sp>
      <p:sp>
        <p:nvSpPr>
          <p:cNvPr id="12" name="Oval 11"/>
          <p:cNvSpPr/>
          <p:nvPr/>
        </p:nvSpPr>
        <p:spPr>
          <a:xfrm>
            <a:off x="1005840" y="3118104"/>
            <a:ext cx="411480" cy="411480"/>
          </a:xfrm>
          <a:prstGeom prst="ellipse">
            <a:avLst/>
          </a:prstGeom>
          <a:solidFill>
            <a:srgbClr val="2B66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15568" y="3182112"/>
            <a:ext cx="1828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45920" y="3099816"/>
            <a:ext cx="89611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>
                <a:solidFill>
                  <a:srgbClr val="202938"/>
                </a:solidFill>
              </a:defRPr>
            </a:pPr>
            <a:r>
              <a:t>Start scheduler</a:t>
            </a:r>
          </a:p>
        </p:txBody>
      </p:sp>
      <p:sp>
        <p:nvSpPr>
          <p:cNvPr id="15" name="Oval 14"/>
          <p:cNvSpPr/>
          <p:nvPr/>
        </p:nvSpPr>
        <p:spPr>
          <a:xfrm>
            <a:off x="1005840" y="3730752"/>
            <a:ext cx="411480" cy="411480"/>
          </a:xfrm>
          <a:prstGeom prst="ellipse">
            <a:avLst/>
          </a:prstGeom>
          <a:solidFill>
            <a:srgbClr val="2B66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15568" y="3794760"/>
            <a:ext cx="1828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45920" y="3712464"/>
            <a:ext cx="89611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>
                <a:solidFill>
                  <a:srgbClr val="202938"/>
                </a:solidFill>
              </a:defRPr>
            </a:pPr>
            <a:r>
              <a:t>Acquire sensor data</a:t>
            </a:r>
          </a:p>
        </p:txBody>
      </p:sp>
      <p:sp>
        <p:nvSpPr>
          <p:cNvPr id="18" name="Oval 17"/>
          <p:cNvSpPr/>
          <p:nvPr/>
        </p:nvSpPr>
        <p:spPr>
          <a:xfrm>
            <a:off x="1005840" y="4343400"/>
            <a:ext cx="411480" cy="411480"/>
          </a:xfrm>
          <a:prstGeom prst="ellipse">
            <a:avLst/>
          </a:prstGeom>
          <a:solidFill>
            <a:srgbClr val="2B66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115568" y="4407408"/>
            <a:ext cx="1828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6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45920" y="4325112"/>
            <a:ext cx="89611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>
                <a:solidFill>
                  <a:srgbClr val="202938"/>
                </a:solidFill>
              </a:defRPr>
            </a:pPr>
            <a:r>
              <a:t>Process queued data</a:t>
            </a:r>
          </a:p>
        </p:txBody>
      </p:sp>
      <p:sp>
        <p:nvSpPr>
          <p:cNvPr id="21" name="Oval 20"/>
          <p:cNvSpPr/>
          <p:nvPr/>
        </p:nvSpPr>
        <p:spPr>
          <a:xfrm>
            <a:off x="1005840" y="4956048"/>
            <a:ext cx="411480" cy="411480"/>
          </a:xfrm>
          <a:prstGeom prst="ellipse">
            <a:avLst/>
          </a:prstGeom>
          <a:solidFill>
            <a:srgbClr val="2B66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115568" y="5020056"/>
            <a:ext cx="1828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7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645920" y="4937760"/>
            <a:ext cx="89611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>
                <a:solidFill>
                  <a:srgbClr val="202938"/>
                </a:solidFill>
              </a:defRPr>
            </a:pPr>
            <a:r>
              <a:t>Transmit UART logs</a:t>
            </a:r>
          </a:p>
        </p:txBody>
      </p:sp>
      <p:sp>
        <p:nvSpPr>
          <p:cNvPr id="24" name="Oval 23"/>
          <p:cNvSpPr/>
          <p:nvPr/>
        </p:nvSpPr>
        <p:spPr>
          <a:xfrm>
            <a:off x="1005840" y="5568696"/>
            <a:ext cx="411480" cy="411480"/>
          </a:xfrm>
          <a:prstGeom prst="ellipse">
            <a:avLst/>
          </a:prstGeom>
          <a:solidFill>
            <a:srgbClr val="2B66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115568" y="5632704"/>
            <a:ext cx="1828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8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645920" y="5550408"/>
            <a:ext cx="89611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>
                <a:solidFill>
                  <a:srgbClr val="202938"/>
                </a:solidFill>
              </a:defRPr>
            </a:pPr>
            <a:r>
              <a:t>Monitor faults / events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40080" y="6537960"/>
            <a:ext cx="10927080" cy="13716"/>
          </a:xfrm>
          <a:prstGeom prst="rect">
            <a:avLst/>
          </a:prstGeom>
          <a:solidFill>
            <a:srgbClr val="DCE1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881360" y="6565392"/>
            <a:ext cx="6400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5F6978"/>
                </a:solidFill>
              </a:defRPr>
            </a:pPr>
            <a: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22238"/>
                </a:solidFill>
              </a:defRPr>
            </a:pPr>
            <a:r>
              <a:t>Testing &amp; Optimization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508760"/>
            <a:ext cx="106070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202938"/>
                </a:solidFill>
              </a:defRPr>
            </a:pPr>
            <a:r>
              <a:t>• Verify sensor acquisition, I2C/GPIO interfaces, queue transfer, UART communication, and fault handling.</a:t>
            </a:r>
          </a:p>
          <a:p>
            <a:pPr>
              <a:spcAft>
                <a:spcPts val="1200"/>
              </a:spcAft>
              <a:defRPr sz="1800">
                <a:solidFill>
                  <a:srgbClr val="202938"/>
                </a:solidFill>
              </a:defRPr>
            </a:pPr>
            <a:r>
              <a:t>• Use UART logs to observe execution and identify timing or communication problems.</a:t>
            </a:r>
          </a:p>
          <a:p>
            <a:pPr>
              <a:spcAft>
                <a:spcPts val="1200"/>
              </a:spcAft>
              <a:defRPr sz="1800">
                <a:solidFill>
                  <a:srgbClr val="202938"/>
                </a:solidFill>
              </a:defRPr>
            </a:pPr>
            <a:r>
              <a:t>• Tune task priorities to balance responsiveness and prevent starvation.</a:t>
            </a:r>
          </a:p>
          <a:p>
            <a:pPr>
              <a:spcAft>
                <a:spcPts val="1200"/>
              </a:spcAft>
              <a:defRPr sz="1800">
                <a:solidFill>
                  <a:srgbClr val="202938"/>
                </a:solidFill>
              </a:defRPr>
            </a:pPr>
            <a:r>
              <a:t>• Optimize stack sizes, queue capacity, and RTOS objects to control RAM usage.</a:t>
            </a:r>
          </a:p>
          <a:p>
            <a:pPr>
              <a:spcAft>
                <a:spcPts val="1200"/>
              </a:spcAft>
              <a:defRPr sz="1800">
                <a:solidFill>
                  <a:srgbClr val="202938"/>
                </a:solidFill>
              </a:defRPr>
            </a:pPr>
            <a:r>
              <a:t>• Keep ISRs concise and avoid unnecessary blocking to improve response time.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6537960"/>
            <a:ext cx="10927080" cy="13716"/>
          </a:xfrm>
          <a:prstGeom prst="rect">
            <a:avLst/>
          </a:prstGeom>
          <a:solidFill>
            <a:srgbClr val="DCE1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881360" y="6565392"/>
            <a:ext cx="6400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5F6978"/>
                </a:solidFill>
              </a:defRPr>
            </a:pPr>
            <a: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22238"/>
                </a:solidFill>
              </a:defRPr>
            </a:pPr>
            <a:r>
              <a:t>Results &amp; Engineering Outcomes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508760"/>
            <a:ext cx="106070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202938"/>
                </a:solidFill>
              </a:defRPr>
            </a:pPr>
            <a:r>
              <a:t>• Implemented a modular real-time architecture using independent FreeRTOS tasks.</a:t>
            </a:r>
          </a:p>
          <a:p>
            <a:pPr>
              <a:spcAft>
                <a:spcPts val="1200"/>
              </a:spcAft>
              <a:defRPr sz="1800">
                <a:solidFill>
                  <a:srgbClr val="202938"/>
                </a:solidFill>
              </a:defRPr>
            </a:pPr>
            <a:r>
              <a:t>• Used queues and mutexes for reliable task communication and shared-resource protection.</a:t>
            </a:r>
          </a:p>
          <a:p>
            <a:pPr>
              <a:spcAft>
                <a:spcPts val="1200"/>
              </a:spcAft>
              <a:defRPr sz="1800">
                <a:solidFill>
                  <a:srgbClr val="202938"/>
                </a:solidFill>
              </a:defRPr>
            </a:pPr>
            <a:r>
              <a:t>• Integrated UART, I2C, GPIO, and interrupt-driven event handling.</a:t>
            </a:r>
          </a:p>
          <a:p>
            <a:pPr>
              <a:spcAft>
                <a:spcPts val="1200"/>
              </a:spcAft>
              <a:defRPr sz="1800">
                <a:solidFill>
                  <a:srgbClr val="202938"/>
                </a:solidFill>
              </a:defRPr>
            </a:pPr>
            <a:r>
              <a:t>• Improved runtime reliability through debugging and optimization of task priorities, memory usage, and response behavior.</a:t>
            </a:r>
          </a:p>
          <a:p>
            <a:pPr>
              <a:spcAft>
                <a:spcPts val="1200"/>
              </a:spcAft>
              <a:defRPr sz="1800">
                <a:solidFill>
                  <a:srgbClr val="202938"/>
                </a:solidFill>
              </a:defRPr>
            </a:pPr>
            <a:r>
              <a:t>• Quantitative latency, CPU-load, RAM-use, and sensor-accuracy measurements were not provided, so they are not claimed here.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6537960"/>
            <a:ext cx="10927080" cy="13716"/>
          </a:xfrm>
          <a:prstGeom prst="rect">
            <a:avLst/>
          </a:prstGeom>
          <a:solidFill>
            <a:srgbClr val="DCE1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881360" y="6565392"/>
            <a:ext cx="6400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5F6978"/>
                </a:solidFill>
              </a:defRPr>
            </a:pPr>
            <a: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22238"/>
                </a:solidFill>
              </a:defRPr>
            </a:pPr>
            <a:r>
              <a:t>Future Scope &amp; 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508760"/>
            <a:ext cx="106070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202938"/>
                </a:solidFill>
              </a:defRPr>
            </a:pPr>
            <a:r>
              <a:t>• Future: add more sensors, configurable sampling, persistent logging, wireless/IoT connectivity, and watchdog-based recovery.</a:t>
            </a:r>
          </a:p>
          <a:p>
            <a:pPr>
              <a:spcAft>
                <a:spcPts val="1200"/>
              </a:spcAft>
              <a:defRPr sz="1800">
                <a:solidFill>
                  <a:srgbClr val="202938"/>
                </a:solidFill>
              </a:defRPr>
            </a:pPr>
            <a:r>
              <a:t>• Future: collect quantitative CPU load, task latency, stack usage, and sensor accuracy metrics.</a:t>
            </a:r>
          </a:p>
          <a:p>
            <a:pPr>
              <a:spcAft>
                <a:spcPts val="1200"/>
              </a:spcAft>
              <a:defRPr sz="1800">
                <a:solidFill>
                  <a:srgbClr val="202938"/>
                </a:solidFill>
              </a:defRPr>
            </a:pPr>
            <a:r>
              <a:t>• Conclusion: FreeRTOS provides a structured way to build a responsive and maintainable STM32 monitoring application.</a:t>
            </a:r>
          </a:p>
          <a:p>
            <a:pPr>
              <a:spcAft>
                <a:spcPts val="1200"/>
              </a:spcAft>
              <a:defRPr sz="1800">
                <a:solidFill>
                  <a:srgbClr val="202938"/>
                </a:solidFill>
              </a:defRPr>
            </a:pPr>
            <a:r>
              <a:t>• The project demonstrates practical embedded-system skills in RTOS scheduling, synchronization, peripheral interfaces, interrupts, and debugging.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6537960"/>
            <a:ext cx="10927080" cy="13716"/>
          </a:xfrm>
          <a:prstGeom prst="rect">
            <a:avLst/>
          </a:prstGeom>
          <a:solidFill>
            <a:srgbClr val="DCE1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881360" y="6565392"/>
            <a:ext cx="6400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5F6978"/>
                </a:solidFill>
              </a:defRPr>
            </a:pPr>
            <a:r>
              <a:t>12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